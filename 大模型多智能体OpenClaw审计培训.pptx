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大模型、多智能体与OpenClaw在审计中的应用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面向审计人员的AI技术培训</a:t>
            </a:r>
          </a:p>
          <a:p/>
          <a:p>
            <a:r>
              <a:t>培训时长：60分钟</a:t>
            </a:r>
          </a:p>
          <a:p>
            <a:r>
              <a:t>制作日期：2026年2月23日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培训目录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第一部分：什么是大模型（15分钟）</a:t>
            </a:r>
          </a:p>
          <a:p>
            <a:pPr/>
            <a:r>
              <a:t>第二部分：多智能体系统（15分钟）</a:t>
            </a:r>
          </a:p>
          <a:p>
            <a:pPr/>
            <a:r>
              <a:t>第三部分：OpenClaw实战（25分钟）</a:t>
            </a:r>
          </a:p>
          <a:p>
            <a:pPr/>
            <a:r>
              <a:t>第四部分：如何上手（5分钟）</a:t>
            </a:r>
          </a:p>
          <a:p>
            <a:pPr/>
            <a:r>
              <a:t>Q&amp;A互动（5分钟）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第一部分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什么是大模型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大模型基本概念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定义：基于海量数据训练的深度学习模型</a:t>
            </a:r>
          </a:p>
          <a:p>
            <a:pPr/>
            <a:r>
              <a:t>特点：</a:t>
            </a:r>
          </a:p>
          <a:p>
            <a:pPr/>
            <a:r>
              <a:t>  • 参数规模大（数十亿至数千亿）</a:t>
            </a:r>
          </a:p>
          <a:p>
            <a:pPr/>
            <a:r>
              <a:t>  • 能力强、通用性好</a:t>
            </a:r>
          </a:p>
          <a:p>
            <a:pPr/>
            <a:r>
              <a:t>  • 代表：GPT、DeepSeek、Kimi等</a:t>
            </a:r>
          </a:p>
          <a:p>
            <a:pPr/>
          </a:p>
          <a:p>
            <a:pPr/>
            <a:r>
              <a:t>通俗理解：像一个读过海量书籍的'超级大脑'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大模型 vs 传统AI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传统AI：</a:t>
            </a:r>
          </a:p>
          <a:p>
            <a:pPr/>
            <a:r>
              <a:t>  • 训练数据：少量标注数据</a:t>
            </a:r>
          </a:p>
          <a:p>
            <a:pPr/>
            <a:r>
              <a:t>  • 能力范围：单一任务</a:t>
            </a:r>
          </a:p>
          <a:p>
            <a:pPr/>
            <a:r>
              <a:t>  • 使用门槛：需要专业开发</a:t>
            </a:r>
          </a:p>
          <a:p>
            <a:pPr/>
          </a:p>
          <a:p>
            <a:pPr/>
            <a:r>
              <a:t>大模型：</a:t>
            </a:r>
          </a:p>
          <a:p>
            <a:pPr/>
            <a:r>
              <a:t>  • 训练数据：海量文本数据</a:t>
            </a:r>
          </a:p>
          <a:p>
            <a:pPr/>
            <a:r>
              <a:t>  • 能力范围：多任务通用</a:t>
            </a:r>
          </a:p>
          <a:p>
            <a:pPr/>
            <a:r>
              <a:t>  • 使用门槛：自然语言交互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审计场景应用示例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文档分析：</a:t>
            </a:r>
          </a:p>
          <a:p>
            <a:pPr/>
            <a:r>
              <a:t>  • 自动读取审计材料</a:t>
            </a:r>
          </a:p>
          <a:p>
            <a:pPr/>
            <a:r>
              <a:t>  • 提取关键信息</a:t>
            </a:r>
          </a:p>
          <a:p>
            <a:pPr/>
          </a:p>
          <a:p>
            <a:pPr/>
            <a:r>
              <a:t>风险识别：</a:t>
            </a:r>
          </a:p>
          <a:p>
            <a:pPr/>
            <a:r>
              <a:t>  • 基于规则+模型识别异常</a:t>
            </a:r>
          </a:p>
          <a:p>
            <a:pPr/>
          </a:p>
          <a:p>
            <a:pPr/>
            <a:r>
              <a:t>报告生成：</a:t>
            </a:r>
          </a:p>
          <a:p>
            <a:pPr/>
            <a:r>
              <a:t>  • 自动撰写审计发现</a:t>
            </a:r>
          </a:p>
          <a:p>
            <a:pPr/>
            <a:r>
              <a:t>  • 自动匹配法规条款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第二部分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多智能体系统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多智能体概念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定义：多个AI智能体协作完成复杂任务</a:t>
            </a:r>
          </a:p>
          <a:p>
            <a:pPr/>
          </a:p>
          <a:p>
            <a:pPr/>
            <a:r>
              <a:t>核心思想：</a:t>
            </a:r>
          </a:p>
          <a:p>
            <a:pPr/>
            <a:r>
              <a:t>  • 分工协作</a:t>
            </a:r>
          </a:p>
          <a:p>
            <a:pPr/>
            <a:r>
              <a:t>  • 专业分工</a:t>
            </a:r>
          </a:p>
          <a:p>
            <a:pPr/>
            <a:r>
              <a:t>  • 结果汇总</a:t>
            </a:r>
          </a:p>
          <a:p>
            <a:pPr/>
          </a:p>
          <a:p>
            <a:pPr/>
            <a:r>
              <a:t>类比：像一个审计团队，</a:t>
            </a:r>
          </a:p>
          <a:p>
            <a:pPr/>
            <a:r>
              <a:t>每个人负责不同领域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审计代码中的多智能体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6个专业审计Agent：</a:t>
            </a:r>
          </a:p>
          <a:p>
            <a:pPr/>
          </a:p>
          <a:p>
            <a:pPr/>
            <a:r>
              <a:t>A1：会议与重大事项决策程序</a:t>
            </a:r>
          </a:p>
          <a:p>
            <a:pPr/>
            <a:r>
              <a:t>A2：重大项目与预算支付链条</a:t>
            </a:r>
          </a:p>
          <a:p>
            <a:pPr/>
            <a:r>
              <a:t>A3：财务真实性与凭证完整性</a:t>
            </a:r>
          </a:p>
          <a:p>
            <a:pPr/>
            <a:r>
              <a:t>A4：国有资产形成与计价证据</a:t>
            </a:r>
          </a:p>
          <a:p>
            <a:pPr/>
            <a:r>
              <a:t>A5：内控执行与自评一致性</a:t>
            </a:r>
          </a:p>
          <a:p>
            <a:pPr/>
            <a:r>
              <a:t>A6：审计整改闭环证据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多智能体工作流程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任务分解</a:t>
            </a:r>
          </a:p>
          <a:p>
            <a:pPr/>
            <a:r>
              <a:t>   将审计任务拆分为6个子任务</a:t>
            </a:r>
          </a:p>
          <a:p>
            <a:pPr/>
          </a:p>
          <a:p>
            <a:pPr/>
            <a:r>
              <a:t>2. 并行执行</a:t>
            </a:r>
          </a:p>
          <a:p>
            <a:pPr/>
            <a:r>
              <a:t>   6个Agent同时分析不同领域</a:t>
            </a:r>
          </a:p>
          <a:p>
            <a:pPr/>
          </a:p>
          <a:p>
            <a:pPr/>
            <a:r>
              <a:t>3. 结果汇总</a:t>
            </a:r>
          </a:p>
          <a:p>
            <a:pPr/>
            <a:r>
              <a:t>   ReportAgent整合所有发现</a:t>
            </a:r>
          </a:p>
          <a:p>
            <a:pPr/>
          </a:p>
          <a:p>
            <a:pPr/>
            <a:r>
              <a:t>4. 报告生成</a:t>
            </a:r>
          </a:p>
          <a:p>
            <a:pPr/>
            <a:r>
              <a:t>   输出结构化审计报告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多智能体优势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专业化</a:t>
            </a:r>
          </a:p>
          <a:p>
            <a:pPr/>
            <a:r>
              <a:t>   每个Agent专注特定领域</a:t>
            </a:r>
          </a:p>
          <a:p>
            <a:pPr/>
          </a:p>
          <a:p>
            <a:pPr/>
            <a:r>
              <a:t>✅ 并行化</a:t>
            </a:r>
          </a:p>
          <a:p>
            <a:pPr/>
            <a:r>
              <a:t>   多任务同时执行，提升效率</a:t>
            </a:r>
          </a:p>
          <a:p>
            <a:pPr/>
          </a:p>
          <a:p>
            <a:pPr/>
            <a:r>
              <a:t>✅ 可扩展</a:t>
            </a:r>
          </a:p>
          <a:p>
            <a:pPr/>
            <a:r>
              <a:t>   新增Agent即可扩展能力</a:t>
            </a:r>
          </a:p>
          <a:p>
            <a:pPr/>
          </a:p>
          <a:p>
            <a:pPr/>
            <a:r>
              <a:t>✅ 可维护</a:t>
            </a:r>
          </a:p>
          <a:p>
            <a:pPr/>
            <a:r>
              <a:t>   单个Agent更新不影响其他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第三部分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OpenClaw实战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OpenClaw架构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Director (Hourglass)</a:t>
            </a:r>
          </a:p>
          <a:p>
            <a:pPr/>
            <a:r>
              <a:t>    ↓</a:t>
            </a:r>
          </a:p>
          <a:p>
            <a:pPr/>
            <a:r>
              <a:t>Chief AI Officer (侧影)</a:t>
            </a:r>
          </a:p>
          <a:p>
            <a:pPr/>
            <a:r>
              <a:t>    ↓</a:t>
            </a:r>
          </a:p>
          <a:p>
            <a:pPr/>
            <a:r>
              <a:t>├─ Africa Intel Dept (3人)</a:t>
            </a:r>
          </a:p>
          <a:p>
            <a:pPr/>
            <a:r>
              <a:t>├─ US-China Policy Dept (2人)</a:t>
            </a:r>
          </a:p>
          <a:p>
            <a:pPr/>
            <a:r>
              <a:t>├─ Financial Intel Dept (2人)</a:t>
            </a:r>
          </a:p>
          <a:p>
            <a:pPr/>
            <a:r>
              <a:t>├─ Engineering Dept (3人)</a:t>
            </a:r>
          </a:p>
          <a:p>
            <a:pPr/>
            <a:r>
              <a:t>└─ Memory &amp; Admin Dept (2人)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OpenClaw vs 审计代码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审计Python脚本：</a:t>
            </a:r>
          </a:p>
          <a:p>
            <a:pPr/>
            <a:r>
              <a:t>  • 6个审计Agent</a:t>
            </a:r>
          </a:p>
          <a:p>
            <a:pPr/>
            <a:r>
              <a:t>  • 代码硬编码调度</a:t>
            </a:r>
          </a:p>
          <a:p>
            <a:pPr/>
            <a:r>
              <a:t>  • 命令行运行</a:t>
            </a:r>
          </a:p>
          <a:p>
            <a:pPr/>
            <a:r>
              <a:t>  • 本地运行</a:t>
            </a:r>
          </a:p>
          <a:p>
            <a:pPr/>
          </a:p>
          <a:p>
            <a:pPr/>
            <a:r>
              <a:t>OpenClaw：</a:t>
            </a:r>
          </a:p>
          <a:p>
            <a:pPr/>
            <a:r>
              <a:t>  • 12个业务Agent</a:t>
            </a:r>
          </a:p>
          <a:p>
            <a:pPr/>
            <a:r>
              <a:t>  • 动态任务调度</a:t>
            </a:r>
          </a:p>
          <a:p>
            <a:pPr/>
            <a:r>
              <a:t>  • 飞书+Web界面</a:t>
            </a:r>
          </a:p>
          <a:p>
            <a:pPr/>
            <a:r>
              <a:t>  • 云端自动部署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OpenClaw核心特性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🕐 定时任务</a:t>
            </a:r>
          </a:p>
          <a:p>
            <a:pPr/>
            <a:r>
              <a:t>   自动执行日报/简报</a:t>
            </a:r>
          </a:p>
          <a:p>
            <a:pPr/>
          </a:p>
          <a:p>
            <a:pPr/>
            <a:r>
              <a:t>📱 多渠道输出</a:t>
            </a:r>
          </a:p>
          <a:p>
            <a:pPr/>
            <a:r>
              <a:t>   飞书、邮件、Web</a:t>
            </a:r>
          </a:p>
          <a:p>
            <a:pPr/>
          </a:p>
          <a:p>
            <a:pPr/>
            <a:r>
              <a:t>📊 实时监控</a:t>
            </a:r>
          </a:p>
          <a:p>
            <a:pPr/>
            <a:r>
              <a:t>   任务状态、团队看板</a:t>
            </a:r>
          </a:p>
          <a:p>
            <a:pPr/>
          </a:p>
          <a:p>
            <a:pPr/>
            <a:r>
              <a:t>🔄 自动迭代</a:t>
            </a:r>
          </a:p>
          <a:p>
            <a:pPr/>
            <a:r>
              <a:t>   每日优化方案生成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演示1：情报收集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非洲情报：</a:t>
            </a:r>
          </a:p>
          <a:p>
            <a:pPr/>
            <a:r>
              <a:t>  • 07:00 日报</a:t>
            </a:r>
          </a:p>
          <a:p>
            <a:pPr/>
            <a:r>
              <a:t>  • 16:00 / 20:00 / 23:00 简报</a:t>
            </a:r>
          </a:p>
          <a:p>
            <a:pPr/>
          </a:p>
          <a:p>
            <a:pPr/>
            <a:r>
              <a:t>美国对华政策：</a:t>
            </a:r>
          </a:p>
          <a:p>
            <a:pPr/>
            <a:r>
              <a:t>  • 07:00 日报</a:t>
            </a:r>
          </a:p>
          <a:p>
            <a:pPr/>
            <a:r>
              <a:t>  • 20:00 / 00:00 简报</a:t>
            </a:r>
          </a:p>
          <a:p>
            <a:pPr/>
          </a:p>
          <a:p>
            <a:pPr/>
            <a:r>
              <a:t>Polymarket市场：</a:t>
            </a:r>
          </a:p>
          <a:p>
            <a:pPr/>
            <a:r>
              <a:t>  • 06:00 日报</a:t>
            </a:r>
          </a:p>
          <a:p>
            <a:pPr/>
            <a:r>
              <a:t>  • 12:00 / 17:00 / 20:00 / 22:00 简报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3.5 演示2：报告生成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自动汇总：</a:t>
            </a:r>
          </a:p>
          <a:p>
            <a:pPr/>
            <a:r>
              <a:t>  • 多源信息整合</a:t>
            </a:r>
          </a:p>
          <a:p>
            <a:pPr/>
            <a:r>
              <a:t>  • 结构化分析</a:t>
            </a:r>
          </a:p>
          <a:p>
            <a:pPr/>
          </a:p>
          <a:p>
            <a:pPr/>
            <a:r>
              <a:t>报告输出：</a:t>
            </a:r>
          </a:p>
          <a:p>
            <a:pPr/>
            <a:r>
              <a:t>  • Markdown格式</a:t>
            </a:r>
          </a:p>
          <a:p>
            <a:pPr/>
            <a:r>
              <a:t>  • Word文档</a:t>
            </a:r>
          </a:p>
          <a:p>
            <a:pPr/>
            <a:r>
              <a:t>  • 自动发送邮箱</a:t>
            </a:r>
          </a:p>
          <a:p>
            <a:pPr/>
          </a:p>
          <a:p>
            <a:pPr/>
            <a:r>
              <a:t>质量评估：</a:t>
            </a:r>
          </a:p>
          <a:p>
            <a:pPr/>
            <a:r>
              <a:t>  • 覆盖率检查</a:t>
            </a:r>
          </a:p>
          <a:p>
            <a:pPr/>
            <a:r>
              <a:t>  • 准确性评分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3.6 演示3：团队协作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14个Agent实时状态：</a:t>
            </a:r>
          </a:p>
          <a:p>
            <a:pPr/>
            <a:r>
              <a:t>  • 在线/工作中/待命</a:t>
            </a:r>
          </a:p>
          <a:p>
            <a:pPr/>
          </a:p>
          <a:p>
            <a:pPr/>
            <a:r>
              <a:t>任务分配：</a:t>
            </a:r>
          </a:p>
          <a:p>
            <a:pPr/>
            <a:r>
              <a:t>  • 自动调度</a:t>
            </a:r>
          </a:p>
          <a:p>
            <a:pPr/>
            <a:r>
              <a:t>  • 负载均衡</a:t>
            </a:r>
          </a:p>
          <a:p>
            <a:pPr/>
          </a:p>
          <a:p>
            <a:pPr/>
            <a:r>
              <a:t>质量监控：</a:t>
            </a:r>
          </a:p>
          <a:p>
            <a:pPr/>
            <a:r>
              <a:t>  • 执行成功率</a:t>
            </a:r>
          </a:p>
          <a:p>
            <a:pPr/>
            <a:r>
              <a:t>  • 输出质量评分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第四部分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如何上手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审计人员入门路径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第1步：理解概念</a:t>
            </a:r>
          </a:p>
          <a:p>
            <a:pPr/>
            <a:r>
              <a:t>   大模型、多智能体基本原理</a:t>
            </a:r>
          </a:p>
          <a:p>
            <a:pPr/>
          </a:p>
          <a:p>
            <a:pPr/>
            <a:r>
              <a:t>第2步：体验工具</a:t>
            </a:r>
          </a:p>
          <a:p>
            <a:pPr/>
            <a:r>
              <a:t>   使用OpenClaw完成简单任务</a:t>
            </a:r>
          </a:p>
          <a:p>
            <a:pPr/>
          </a:p>
          <a:p>
            <a:pPr/>
            <a:r>
              <a:t>第3步：定制需求</a:t>
            </a:r>
          </a:p>
          <a:p>
            <a:pPr/>
            <a:r>
              <a:t>   根据审计场景调整Agent</a:t>
            </a:r>
          </a:p>
          <a:p>
            <a:pPr/>
          </a:p>
          <a:p>
            <a:pPr/>
            <a:r>
              <a:t>第4步：持续优化</a:t>
            </a:r>
          </a:p>
          <a:p>
            <a:pPr/>
            <a:r>
              <a:t>   基于反馈迭代改进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关键技能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📝 提示词工程</a:t>
            </a:r>
          </a:p>
          <a:p>
            <a:pPr/>
            <a:r>
              <a:t>   Prompt Engineering</a:t>
            </a:r>
          </a:p>
          <a:p>
            <a:pPr/>
          </a:p>
          <a:p>
            <a:pPr/>
            <a:r>
              <a:t>🎯 任务分解</a:t>
            </a:r>
          </a:p>
          <a:p>
            <a:pPr/>
            <a:r>
              <a:t>   Agent设计与分工</a:t>
            </a:r>
          </a:p>
          <a:p>
            <a:pPr/>
          </a:p>
          <a:p>
            <a:pPr/>
            <a:r>
              <a:t>✅ 结果评估</a:t>
            </a:r>
          </a:p>
          <a:p>
            <a:pPr/>
            <a:r>
              <a:t>   质量控制与验证</a:t>
            </a:r>
          </a:p>
          <a:p>
            <a:pPr/>
          </a:p>
          <a:p>
            <a:pPr/>
            <a:r>
              <a:t>📚 法规知识</a:t>
            </a:r>
          </a:p>
          <a:p>
            <a:pPr/>
            <a:r>
              <a:t>   业务理解与应用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资源推荐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📖 OpenClaw文档</a:t>
            </a:r>
          </a:p>
          <a:p>
            <a:pPr/>
            <a:r>
              <a:t>   https://docs.openclaw.ai</a:t>
            </a:r>
          </a:p>
          <a:p>
            <a:pPr/>
          </a:p>
          <a:p>
            <a:pPr/>
            <a:r>
              <a:t>💻 示例代码</a:t>
            </a:r>
          </a:p>
          <a:p>
            <a:pPr/>
            <a:r>
              <a:t>   经济责任审计1.3.py</a:t>
            </a:r>
          </a:p>
          <a:p>
            <a:pPr/>
          </a:p>
          <a:p>
            <a:pPr/>
            <a:r>
              <a:t>🌐 实践平台</a:t>
            </a:r>
          </a:p>
          <a:p>
            <a:pPr/>
            <a:r>
              <a:t>   https://mission-control-sigma-six.vercel.app</a:t>
            </a:r>
          </a:p>
          <a:p>
            <a:pPr/>
          </a:p>
          <a:p>
            <a:pPr/>
            <a:r>
              <a:t>📧 联系方式</a:t>
            </a:r>
          </a:p>
          <a:p>
            <a:pPr/>
            <a:r>
              <a:t>   Hourglass / 侧影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Q&amp;A 互动环节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常见问题解答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Q1：大模型输出不准确怎么办？</a:t>
            </a:r>
          </a:p>
          <a:p>
            <a:pPr/>
            <a:r>
              <a:t>   A：多模型交叉验证 + 人工复核</a:t>
            </a:r>
          </a:p>
          <a:p>
            <a:pPr/>
          </a:p>
          <a:p>
            <a:pPr/>
            <a:r>
              <a:t>Q2：多智能体如何协调避免冲突？</a:t>
            </a:r>
          </a:p>
          <a:p>
            <a:pPr/>
            <a:r>
              <a:t>   A：明确分工边界 + 统一输出格式</a:t>
            </a:r>
          </a:p>
          <a:p>
            <a:pPr/>
          </a:p>
          <a:p>
            <a:pPr/>
            <a:r>
              <a:t>Q3：审计数据安全如何保障？</a:t>
            </a:r>
          </a:p>
          <a:p>
            <a:pPr/>
            <a:r>
              <a:t>   A：本地部署 + 数据脱敏 + 权限控制</a:t>
            </a:r>
          </a:p>
          <a:p>
            <a:pPr/>
          </a:p>
          <a:p>
            <a:pPr/>
            <a:r>
              <a:t>Q4：如何评估AI审计结果质量？</a:t>
            </a:r>
          </a:p>
          <a:p>
            <a:pPr/>
            <a:r>
              <a:t>   A：设定评估指标 + 抽样验证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感谢聆听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大模型、多智能体与OpenClaw在审计中的应用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