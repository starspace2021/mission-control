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大模型与多智能体在审计中的应用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面向审计人员的AI技术培训</a:t>
            </a:r>
          </a:p>
          <a:p/>
          <a:p>
            <a:r>
              <a:t>培训时长：60分钟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第一部分：什么是大模型（15分钟）</a:t>
            </a:r>
          </a:p>
          <a:p>
            <a:pPr/>
            <a:r>
              <a:t>第二部分：多智能体系统（15分钟）</a:t>
            </a:r>
          </a:p>
          <a:p>
            <a:pPr/>
            <a:r>
              <a:t>第三部分：OpenClaw平台介绍（20分钟）</a:t>
            </a:r>
          </a:p>
          <a:p>
            <a:pPr/>
            <a:r>
              <a:t>第四部分：实操演示与上手（10分钟）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什么是大模型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大模型基本概念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定义：基于海量数据训练的深度学习模型</a:t>
            </a:r>
          </a:p>
          <a:p>
            <a:pPr/>
          </a:p>
          <a:p>
            <a:pPr/>
            <a:r>
              <a:t>核心特点：</a:t>
            </a:r>
          </a:p>
          <a:p>
            <a:pPr/>
            <a:r>
              <a:t>  • 参数规模大（数十亿至数千亿）</a:t>
            </a:r>
          </a:p>
          <a:p>
            <a:pPr/>
            <a:r>
              <a:t>  • 具备强大的语言理解和生成能力</a:t>
            </a:r>
          </a:p>
          <a:p>
            <a:pPr/>
            <a:r>
              <a:t>  • 通用性强，可处理多种任务</a:t>
            </a:r>
          </a:p>
          <a:p>
            <a:pPr/>
          </a:p>
          <a:p>
            <a:pPr/>
            <a:r>
              <a:t>代表模型：GPT、DeepSeek、Kimi、Claude等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大模型与传统AI的区别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传统AI：</a:t>
            </a:r>
          </a:p>
          <a:p>
            <a:pPr/>
            <a:r>
              <a:t>  • 针对单一任务训练</a:t>
            </a:r>
          </a:p>
          <a:p>
            <a:pPr/>
            <a:r>
              <a:t>  • 需要大量标注数据</a:t>
            </a:r>
          </a:p>
          <a:p>
            <a:pPr/>
            <a:r>
              <a:t>  • 开发成本高、周期长</a:t>
            </a:r>
          </a:p>
          <a:p>
            <a:pPr/>
          </a:p>
          <a:p>
            <a:pPr/>
            <a:r>
              <a:t>大模型：</a:t>
            </a:r>
          </a:p>
          <a:p>
            <a:pPr/>
            <a:r>
              <a:t>  • 一个模型处理多种任务</a:t>
            </a:r>
          </a:p>
          <a:p>
            <a:pPr/>
            <a:r>
              <a:t>  • 通过提示词即可调用能力</a:t>
            </a:r>
          </a:p>
          <a:p>
            <a:pPr/>
            <a:r>
              <a:t>  • 自然语言交互，门槛低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大模型在审计中的应用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文档智能分析：</a:t>
            </a:r>
          </a:p>
          <a:p>
            <a:pPr/>
            <a:r>
              <a:t>  • 自动读取财务凭证、合同、会议纪要</a:t>
            </a:r>
          </a:p>
          <a:p>
            <a:pPr/>
            <a:r>
              <a:t>  • 提取关键信息，识别异常点</a:t>
            </a:r>
          </a:p>
          <a:p>
            <a:pPr/>
          </a:p>
          <a:p>
            <a:pPr/>
            <a:r>
              <a:t>风险识别：</a:t>
            </a:r>
          </a:p>
          <a:p>
            <a:pPr/>
            <a:r>
              <a:t>  • 基于法规和经验的智能判断</a:t>
            </a:r>
          </a:p>
          <a:p>
            <a:pPr/>
            <a:r>
              <a:t>  • 自动匹配相关法规条款</a:t>
            </a:r>
          </a:p>
          <a:p>
            <a:pPr/>
          </a:p>
          <a:p>
            <a:pPr/>
            <a:r>
              <a:t>报告辅助生成：</a:t>
            </a:r>
          </a:p>
          <a:p>
            <a:pPr/>
            <a:r>
              <a:t>  • 结构化输出审计发现</a:t>
            </a:r>
          </a:p>
          <a:p>
            <a:pPr/>
            <a:r>
              <a:t>  • 自动撰写审计建议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第二部分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多智能体系统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什么是多智能体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定义：多个AI智能体协作完成复杂任务</a:t>
            </a:r>
          </a:p>
          <a:p>
            <a:pPr/>
          </a:p>
          <a:p>
            <a:pPr/>
            <a:r>
              <a:t>核心思想：</a:t>
            </a:r>
          </a:p>
          <a:p>
            <a:pPr/>
            <a:r>
              <a:t>  • 任务分解：将复杂任务拆分为子任务</a:t>
            </a:r>
          </a:p>
          <a:p>
            <a:pPr/>
            <a:r>
              <a:t>  • 专业分工：每个智能体负责特定领域</a:t>
            </a:r>
          </a:p>
          <a:p>
            <a:pPr/>
            <a:r>
              <a:t>  • 结果汇总：整合各智能体的分析结果</a:t>
            </a:r>
          </a:p>
          <a:p>
            <a:pPr/>
          </a:p>
          <a:p>
            <a:pPr/>
            <a:r>
              <a:t>类比：像一个审计项目组，</a:t>
            </a:r>
          </a:p>
          <a:p>
            <a:pPr/>
            <a:r>
              <a:t>不同人员负责不同审计领域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经济责任审计中的多智能体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6个专业审计Agent协同工作：</a:t>
            </a:r>
          </a:p>
          <a:p>
            <a:pPr/>
          </a:p>
          <a:p>
            <a:pPr/>
            <a:r>
              <a:t>A1：会议与重大事项决策程序审计</a:t>
            </a:r>
          </a:p>
          <a:p>
            <a:pPr/>
            <a:r>
              <a:t>A2：重大项目与预算支付链条审计</a:t>
            </a:r>
          </a:p>
          <a:p>
            <a:pPr/>
            <a:r>
              <a:t>A3：财务真实性与凭证完整性审计</a:t>
            </a:r>
          </a:p>
          <a:p>
            <a:pPr/>
            <a:r>
              <a:t>A4：国有资产形成与计价证据审计</a:t>
            </a:r>
          </a:p>
          <a:p>
            <a:pPr/>
            <a:r>
              <a:t>A5：内控执行与自评一致性审计</a:t>
            </a:r>
          </a:p>
          <a:p>
            <a:pPr/>
            <a:r>
              <a:t>A6：审计整改闭环证据审计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多智能体工作流程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步骤1：任务分解</a:t>
            </a:r>
          </a:p>
          <a:p>
            <a:pPr/>
            <a:r>
              <a:t>  将经济责任审计拆分为6个专项审计任务</a:t>
            </a:r>
          </a:p>
          <a:p>
            <a:pPr/>
          </a:p>
          <a:p>
            <a:pPr/>
            <a:r>
              <a:t>步骤2：并行执行</a:t>
            </a:r>
          </a:p>
          <a:p>
            <a:pPr/>
            <a:r>
              <a:t>  6个Agent同时分析各自领域的材料</a:t>
            </a:r>
          </a:p>
          <a:p>
            <a:pPr/>
          </a:p>
          <a:p>
            <a:pPr/>
            <a:r>
              <a:t>步骤3：结果汇总</a:t>
            </a:r>
          </a:p>
          <a:p>
            <a:pPr/>
            <a:r>
              <a:t>  ReportAgent整合所有发现，去重归类</a:t>
            </a:r>
          </a:p>
          <a:p>
            <a:pPr/>
          </a:p>
          <a:p>
            <a:pPr/>
            <a:r>
              <a:t>步骤4：报告生成</a:t>
            </a:r>
          </a:p>
          <a:p>
            <a:pPr/>
            <a:r>
              <a:t>  输出结构化的审计报告（JSON+Word）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多智能体的优势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专业化程度高</a:t>
            </a:r>
          </a:p>
          <a:p>
            <a:pPr/>
            <a:r>
              <a:t>   每个Agent专注特定审计领域，深度分析</a:t>
            </a:r>
          </a:p>
          <a:p>
            <a:pPr/>
          </a:p>
          <a:p>
            <a:pPr/>
            <a:r>
              <a:t>✅ 执行效率提升</a:t>
            </a:r>
          </a:p>
          <a:p>
            <a:pPr/>
            <a:r>
              <a:t>   多任务并行处理，缩短审计周期</a:t>
            </a:r>
          </a:p>
          <a:p>
            <a:pPr/>
          </a:p>
          <a:p>
            <a:pPr/>
            <a:r>
              <a:t>✅ 可扩展性强</a:t>
            </a:r>
          </a:p>
          <a:p>
            <a:pPr/>
            <a:r>
              <a:t>   新增Agent即可扩展新的审计领域</a:t>
            </a:r>
          </a:p>
          <a:p>
            <a:pPr/>
          </a:p>
          <a:p>
            <a:pPr/>
            <a:r>
              <a:t>✅ 便于维护更新</a:t>
            </a:r>
          </a:p>
          <a:p>
            <a:pPr/>
            <a:r>
              <a:t>   单个Agent优化不影响整体系统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 代码示例：Agent定义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@dataclass</a:t>
            </a:r>
          </a:p>
          <a:p>
            <a:pPr/>
            <a:r>
              <a:t>class Agent:</a:t>
            </a:r>
          </a:p>
          <a:p>
            <a:pPr/>
            <a:r>
              <a:t>    name: str          # Agent名称</a:t>
            </a:r>
          </a:p>
          <a:p>
            <a:pPr/>
            <a:r>
              <a:t>    scope: List[str]   # 负责的文件范围</a:t>
            </a:r>
          </a:p>
          <a:p>
            <a:pPr/>
            <a:r>
              <a:t>    system_prompt: str # 系统提示词</a:t>
            </a:r>
          </a:p>
          <a:p>
            <a:pPr/>
          </a:p>
          <a:p>
            <a:pPr/>
            <a:r>
              <a:t>    def run(self, client, case):</a:t>
            </a:r>
          </a:p>
          <a:p>
            <a:pPr/>
            <a:r>
              <a:t>        # 1. 读取相关审计材料</a:t>
            </a:r>
          </a:p>
          <a:p>
            <a:pPr/>
            <a:r>
              <a:t>        # 2. 调用DeepSeek分析</a:t>
            </a:r>
          </a:p>
          <a:p>
            <a:pPr/>
            <a:r>
              <a:t>        # 3. 返回结构化发现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 代码示例：6个审计Agent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= [</a:t>
            </a:r>
          </a:p>
          <a:p>
            <a:pPr/>
            <a:r>
              <a:t>    Agent(name='A1_会议与重大事项决策程序',</a:t>
            </a:r>
          </a:p>
          <a:p>
            <a:pPr/>
            <a:r>
              <a:t>          scope=['01_会议纪要', '02_重大项目台账'],</a:t>
            </a:r>
          </a:p>
          <a:p>
            <a:pPr/>
            <a:r>
              <a:t>          system_prompt='审计会议决策程序...'),</a:t>
            </a:r>
          </a:p>
          <a:p>
            <a:pPr/>
            <a:r>
              <a:t>    Agent(name='A2_重大项目与预算支付链条',</a:t>
            </a:r>
          </a:p>
          <a:p>
            <a:pPr/>
            <a:r>
              <a:t>          scope=['02_重大项目台账', '03_财务账_凭证'],</a:t>
            </a:r>
          </a:p>
          <a:p>
            <a:pPr/>
            <a:r>
              <a:t>          system_prompt='审计项目支付链条...'),</a:t>
            </a:r>
          </a:p>
          <a:p>
            <a:pPr/>
            <a:r>
              <a:t>    # ... A3-A6 类似定义</a:t>
            </a:r>
          </a:p>
          <a:p>
            <a:pPr/>
            <a: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第三部分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OpenClaw平台介绍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什么是OpenClaw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OpenClaw是一个多智能体协作平台</a:t>
            </a:r>
          </a:p>
          <a:p>
            <a:pPr/>
          </a:p>
          <a:p>
            <a:pPr/>
            <a:r>
              <a:t>核心能力：</a:t>
            </a:r>
          </a:p>
          <a:p>
            <a:pPr/>
            <a:r>
              <a:t>  • 智能体管理：创建、调度、监控多个AI Agent</a:t>
            </a:r>
          </a:p>
          <a:p>
            <a:pPr/>
            <a:r>
              <a:t>  • 任务编排：定时任务、事件触发、工作流</a:t>
            </a:r>
          </a:p>
          <a:p>
            <a:pPr/>
            <a:r>
              <a:t>  • 多渠道输出：飞书、邮件、Web界面</a:t>
            </a:r>
          </a:p>
          <a:p>
            <a:pPr/>
            <a:r>
              <a:t>  • 自动迭代：每日生成优化方案</a:t>
            </a:r>
          </a:p>
          <a:p>
            <a:pPr/>
          </a:p>
          <a:p>
            <a:pPr/>
            <a:r>
              <a:t>应用场景：自动化报告生成、数据分析、流程处理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OpenClaw架构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Director（人类主管）</a:t>
            </a:r>
          </a:p>
          <a:p>
            <a:pPr/>
            <a:r>
              <a:t>         ↓</a:t>
            </a:r>
          </a:p>
          <a:p>
            <a:pPr/>
            <a:r>
              <a:t>Chief AI Officer（AI主管）</a:t>
            </a:r>
          </a:p>
          <a:p>
            <a:pPr/>
            <a:r>
              <a:t>         ↓</a:t>
            </a:r>
          </a:p>
          <a:p>
            <a:pPr/>
            <a:r>
              <a:t>    ┌────┼────┐</a:t>
            </a:r>
          </a:p>
          <a:p>
            <a:pPr/>
            <a:r>
              <a:t>    ↓    ↓    ↓</a:t>
            </a:r>
          </a:p>
          <a:p>
            <a:pPr/>
            <a:r>
              <a:t>  部门1  部门2  部门3</a:t>
            </a:r>
          </a:p>
          <a:p>
            <a:pPr/>
            <a:r>
              <a:t>  (多个Agent组成的团队)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OpenClaw vs Python脚本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Python多智能体脚本：</a:t>
            </a:r>
          </a:p>
          <a:p>
            <a:pPr/>
            <a:r>
              <a:t>  • Agent数量：6个审计Agent</a:t>
            </a:r>
          </a:p>
          <a:p>
            <a:pPr/>
            <a:r>
              <a:t>  • 调度方式：代码中硬编码</a:t>
            </a:r>
          </a:p>
          <a:p>
            <a:pPr/>
            <a:r>
              <a:t>  • 运行方式：命令行执行</a:t>
            </a:r>
          </a:p>
          <a:p>
            <a:pPr/>
            <a:r>
              <a:t>  • 结果查看：本地文件</a:t>
            </a:r>
          </a:p>
          <a:p>
            <a:pPr/>
          </a:p>
          <a:p>
            <a:pPr/>
            <a:r>
              <a:t>OpenClaw平台：</a:t>
            </a:r>
          </a:p>
          <a:p>
            <a:pPr/>
            <a:r>
              <a:t>  • Agent数量：可动态扩展</a:t>
            </a:r>
          </a:p>
          <a:p>
            <a:pPr/>
            <a:r>
              <a:t>  • 调度方式：可视化配置</a:t>
            </a:r>
          </a:p>
          <a:p>
            <a:pPr/>
            <a:r>
              <a:t>  • 运行方式：云端自动执行</a:t>
            </a:r>
          </a:p>
          <a:p>
            <a:pPr/>
            <a:r>
              <a:t>  • 结果查看：Web界面+消息推送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OpenClaw核心功能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🕐 定时任务调度</a:t>
            </a:r>
          </a:p>
          <a:p>
            <a:pPr/>
            <a:r>
              <a:t>   按设定时间自动执行审计任务</a:t>
            </a:r>
          </a:p>
          <a:p>
            <a:pPr/>
          </a:p>
          <a:p>
            <a:pPr/>
            <a:r>
              <a:t>📊 实时状态监控</a:t>
            </a:r>
          </a:p>
          <a:p>
            <a:pPr/>
            <a:r>
              <a:t>   查看各Agent工作状态和执行进度</a:t>
            </a:r>
          </a:p>
          <a:p>
            <a:pPr/>
          </a:p>
          <a:p>
            <a:pPr/>
            <a:r>
              <a:t>📱 多渠道通知</a:t>
            </a:r>
          </a:p>
          <a:p>
            <a:pPr/>
            <a:r>
              <a:t>   飞书、邮件自动推送结果</a:t>
            </a:r>
          </a:p>
          <a:p>
            <a:pPr/>
          </a:p>
          <a:p>
            <a:pPr/>
            <a:r>
              <a:t>🔄 持续优化</a:t>
            </a:r>
          </a:p>
          <a:p>
            <a:pPr/>
            <a:r>
              <a:t>   自动生成系统优化建议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Mission Control 看板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Web界面地址：</a:t>
            </a:r>
          </a:p>
          <a:p>
            <a:pPr/>
            <a:r>
              <a:t>https://mission-control-sigma-six.vercel.app</a:t>
            </a:r>
          </a:p>
          <a:p>
            <a:pPr/>
          </a:p>
          <a:p>
            <a:pPr/>
            <a:r>
              <a:t>功能模块：</a:t>
            </a:r>
          </a:p>
          <a:p>
            <a:pPr/>
            <a:r>
              <a:t>  • 团队视图：14个Agent实时状态</a:t>
            </a:r>
          </a:p>
          <a:p>
            <a:pPr/>
            <a:r>
              <a:t>  • 任务看板：定时任务执行状态</a:t>
            </a:r>
          </a:p>
          <a:p>
            <a:pPr/>
            <a:r>
              <a:t>  • 日历视图：任务排期一目了然</a:t>
            </a:r>
          </a:p>
          <a:p>
            <a:pPr/>
            <a:r>
              <a:t>  • 记忆系统：历史记录与知识管理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第四部分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实操演示与上手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演示：经济责任审计流程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准备阶段：</a:t>
            </a:r>
          </a:p>
          <a:p>
            <a:pPr/>
            <a:r>
              <a:t>  • 整理审计材料到指定目录</a:t>
            </a:r>
          </a:p>
          <a:p>
            <a:pPr/>
            <a:r>
              <a:t>  • 填写00_meta.json基础信息</a:t>
            </a:r>
          </a:p>
          <a:p>
            <a:pPr/>
          </a:p>
          <a:p>
            <a:pPr/>
            <a:r>
              <a:t>执行阶段：</a:t>
            </a:r>
          </a:p>
          <a:p>
            <a:pPr/>
            <a:r>
              <a:t>  • 运行Python脚本</a:t>
            </a:r>
          </a:p>
          <a:p>
            <a:pPr/>
            <a:r>
              <a:t>  • 6个Agent并行分析</a:t>
            </a:r>
          </a:p>
          <a:p>
            <a:pPr/>
            <a:r>
              <a:t>  • 自动调用DeepSeek API</a:t>
            </a:r>
          </a:p>
          <a:p>
            <a:pPr/>
          </a:p>
          <a:p>
            <a:pPr/>
            <a:r>
              <a:t>输出阶段：</a:t>
            </a:r>
          </a:p>
          <a:p>
            <a:pPr/>
            <a:r>
              <a:t>  • JSON格式审计结论</a:t>
            </a:r>
          </a:p>
          <a:p>
            <a:pPr/>
            <a:r>
              <a:t>  • Word格式审计报告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演示：审计报告示例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报告结构：</a:t>
            </a:r>
          </a:p>
          <a:p>
            <a:pPr/>
            <a:r>
              <a:t>  一、总体评价</a:t>
            </a:r>
          </a:p>
          <a:p>
            <a:pPr/>
            <a:r>
              <a:t>  二、审计依据与口径说明</a:t>
            </a:r>
          </a:p>
          <a:p>
            <a:pPr/>
            <a:r>
              <a:t>  三、主要问题与条款依据</a:t>
            </a:r>
          </a:p>
          <a:p>
            <a:pPr/>
            <a:r>
              <a:t>  四、审计发现明细</a:t>
            </a:r>
          </a:p>
          <a:p>
            <a:pPr/>
            <a:r>
              <a:t>  五、移送与进一步核查建议</a:t>
            </a:r>
          </a:p>
          <a:p>
            <a:pPr/>
          </a:p>
          <a:p>
            <a:pPr/>
            <a:r>
              <a:t>每条发现包含：</a:t>
            </a:r>
          </a:p>
          <a:p>
            <a:pPr/>
            <a:r>
              <a:t>  • 问题描述、证据引用</a:t>
            </a:r>
          </a:p>
          <a:p>
            <a:pPr/>
            <a:r>
              <a:t>  • 法规依据、责任初判</a:t>
            </a:r>
          </a:p>
          <a:p>
            <a:pPr/>
            <a:r>
              <a:t>  • 整改建议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如何快速上手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第一步：理解原理</a:t>
            </a:r>
          </a:p>
          <a:p>
            <a:pPr/>
            <a:r>
              <a:t>  了解大模型、多智能体基本概念</a:t>
            </a:r>
          </a:p>
          <a:p>
            <a:pPr/>
          </a:p>
          <a:p>
            <a:pPr/>
            <a:r>
              <a:t>第二步：体验工具</a:t>
            </a:r>
          </a:p>
          <a:p>
            <a:pPr/>
            <a:r>
              <a:t>  运行示例代码，查看输出结果</a:t>
            </a:r>
          </a:p>
          <a:p>
            <a:pPr/>
          </a:p>
          <a:p>
            <a:pPr/>
            <a:r>
              <a:t>第三步：调整适配</a:t>
            </a:r>
          </a:p>
          <a:p>
            <a:pPr/>
            <a:r>
              <a:t>  根据实际审计需求修改Agent</a:t>
            </a:r>
          </a:p>
          <a:p>
            <a:pPr/>
          </a:p>
          <a:p>
            <a:pPr/>
            <a:r>
              <a:t>第四步：持续优化</a:t>
            </a:r>
          </a:p>
          <a:p>
            <a:pPr/>
            <a:r>
              <a:t>  基于审计反馈改进提示词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关键技能要求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技术层面：</a:t>
            </a:r>
          </a:p>
          <a:p>
            <a:pPr/>
            <a:r>
              <a:t>  • 提示词工程（Prompt Engineering）</a:t>
            </a:r>
          </a:p>
          <a:p>
            <a:pPr/>
            <a:r>
              <a:t>  • 基本的Python代码阅读能力</a:t>
            </a:r>
          </a:p>
          <a:p>
            <a:pPr/>
            <a:r>
              <a:t>  • JSON数据格式理解</a:t>
            </a:r>
          </a:p>
          <a:p>
            <a:pPr/>
          </a:p>
          <a:p>
            <a:pPr/>
            <a:r>
              <a:t>业务层面：</a:t>
            </a:r>
          </a:p>
          <a:p>
            <a:pPr/>
            <a:r>
              <a:t>  • 审计法规知识</a:t>
            </a:r>
          </a:p>
          <a:p>
            <a:pPr/>
            <a:r>
              <a:t>  • 经济责任审计流程</a:t>
            </a:r>
          </a:p>
          <a:p>
            <a:pPr/>
            <a:r>
              <a:t>  • 风险识别与判断能力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学习资源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示例代码：</a:t>
            </a:r>
          </a:p>
          <a:p>
            <a:pPr/>
            <a:r>
              <a:t>  经济责任审计1.3.py</a:t>
            </a:r>
          </a:p>
          <a:p>
            <a:pPr/>
          </a:p>
          <a:p>
            <a:pPr/>
            <a:r>
              <a:t>在线平台：</a:t>
            </a:r>
          </a:p>
          <a:p>
            <a:pPr/>
            <a:r>
              <a:t>  https://mission-control-sigma-six.vercel.app</a:t>
            </a:r>
          </a:p>
          <a:p>
            <a:pPr/>
          </a:p>
          <a:p>
            <a:pPr/>
            <a:r>
              <a:t>技术文档：</a:t>
            </a:r>
          </a:p>
          <a:p>
            <a:pPr/>
            <a:r>
              <a:t>  https://docs.openclaw.ai</a:t>
            </a:r>
          </a:p>
          <a:p>
            <a:pPr/>
          </a:p>
          <a:p>
            <a:pPr/>
            <a:r>
              <a:t>交流支持：</a:t>
            </a:r>
          </a:p>
          <a:p>
            <a:pPr/>
            <a:r>
              <a:t>  Hourglass / 侧影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大模型与多智能体在审计中的应用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